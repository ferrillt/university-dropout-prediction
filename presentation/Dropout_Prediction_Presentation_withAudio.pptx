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7" r:id="rId6"/>
    <p:sldId id="269" r:id="rId7"/>
    <p:sldId id="270" r:id="rId8"/>
    <p:sldId id="258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80" r:id="rId17"/>
    <p:sldId id="278" r:id="rId18"/>
    <p:sldId id="27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5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102" y="5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9/12/2026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9/12/2026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lang="en-US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1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the dataset contains more non-withdrawn students than withdrawn students, which influences model evaluation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how withdrawal patterns vary across different student age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academic preparedness influences persistence.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enrollment intensity may correlate with persistence.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recall is prioritized and summarize model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false positives are less problematic than missing at-risk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which features most influenced predictions.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2F267-0EB7-06C4-C669-59EE952F1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D88965-0197-1B32-405E-0E5774E02F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70816F-1EA6-805D-027B-6A76CAFD0A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which features most influenced predictions.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D35A2-8E48-100D-565B-869DE1240D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31656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9/12/2026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9/12/2026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9/12/2026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9/12/2026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9/12/2026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9/12/2026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9/12/2026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9/12/2026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9/12/2026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9/12/2026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2.m4a"/><Relationship Id="rId1" Type="http://schemas.openxmlformats.org/officeDocument/2006/relationships/audio" Target="NULL" TargetMode="External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4.pn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6" Type="http://schemas.openxmlformats.org/officeDocument/2006/relationships/image" Target="../media/image4.png"/><Relationship Id="rId5" Type="http://schemas.openxmlformats.org/officeDocument/2006/relationships/hyperlink" Target="https://doi.org/10.1038/sdata.2017.171" TargetMode="External"/><Relationship Id="rId4" Type="http://schemas.openxmlformats.org/officeDocument/2006/relationships/hyperlink" Target="https://doi.org/10.1613/jair.95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/>
          <a:lstStyle/>
          <a:p>
            <a:r>
              <a:rPr lang="en-US" dirty="0"/>
              <a:t>University</a:t>
            </a:r>
            <a:br>
              <a:rPr lang="en-US" dirty="0"/>
            </a:br>
            <a:r>
              <a:rPr lang="en-US" dirty="0"/>
              <a:t>dropout Prediction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104900" y="4511785"/>
            <a:ext cx="5734050" cy="955564"/>
          </a:xfrm>
        </p:spPr>
        <p:txBody>
          <a:bodyPr>
            <a:normAutofit/>
          </a:bodyPr>
          <a:lstStyle/>
          <a:p>
            <a:r>
              <a:rPr lang="en-US" dirty="0"/>
              <a:t>Ferrill, Teresa</a:t>
            </a:r>
          </a:p>
          <a:p>
            <a:r>
              <a:rPr lang="en-US" dirty="0"/>
              <a:t>March 8, 2026</a:t>
            </a:r>
          </a:p>
        </p:txBody>
      </p:sp>
      <p:pic>
        <p:nvPicPr>
          <p:cNvPr id="4" name="Picture Placeholder 3" descr="Open book on table, blurred shelves of books in background"/>
          <p:cNvPicPr>
            <a:picLocks noGrp="1" noChangeAspect="1"/>
          </p:cNvPicPr>
          <p:nvPr>
            <p:ph type="pic" sz="quarter" idx="13"/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20" name="TItle">
            <a:hlinkClick r:id="" action="ppaction://media"/>
            <a:extLst>
              <a:ext uri="{FF2B5EF4-FFF2-40B4-BE49-F238E27FC236}">
                <a16:creationId xmlns:a16="http://schemas.microsoft.com/office/drawing/2014/main" id="{FD375C52-05FD-D288-6A7A-D0B607E1461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486400" y="1817914"/>
            <a:ext cx="609600" cy="6096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F8FDB7A-E5AF-C27D-0D16-0BF9D2BE4127}"/>
              </a:ext>
            </a:extLst>
          </p:cNvPr>
          <p:cNvSpPr/>
          <p:nvPr/>
        </p:nvSpPr>
        <p:spPr>
          <a:xfrm>
            <a:off x="4731657" y="1494971"/>
            <a:ext cx="1930400" cy="1204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0860">
        <p:fade/>
      </p:transition>
    </mc:Choice>
    <mc:Fallback xmlns="">
      <p:transition spd="med" advTm="2086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262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Overview of Data Used</a:t>
            </a:r>
          </a:p>
          <a:p>
            <a:r>
              <a:rPr lang="en-US" dirty="0"/>
              <a:t>Methods of Analysis</a:t>
            </a:r>
          </a:p>
          <a:p>
            <a:pPr lvl="1"/>
            <a:r>
              <a:rPr lang="en-US" dirty="0"/>
              <a:t>Exploratory Data Visualization</a:t>
            </a:r>
          </a:p>
          <a:p>
            <a:pPr lvl="1"/>
            <a:r>
              <a:rPr lang="en-US" dirty="0"/>
              <a:t>Withdrawal Rate by Age Band</a:t>
            </a:r>
          </a:p>
          <a:p>
            <a:pPr lvl="1"/>
            <a:r>
              <a:rPr lang="en-US" dirty="0"/>
              <a:t>Withdrawal Rate by Education Level</a:t>
            </a:r>
          </a:p>
          <a:p>
            <a:pPr lvl="1"/>
            <a:r>
              <a:rPr lang="en-US" dirty="0"/>
              <a:t>Distribution of Studied Credits</a:t>
            </a:r>
          </a:p>
          <a:p>
            <a:pPr lvl="1"/>
            <a:r>
              <a:rPr lang="en-US" dirty="0"/>
              <a:t>Model Performance Comparison</a:t>
            </a:r>
          </a:p>
          <a:p>
            <a:r>
              <a:rPr lang="en-US" dirty="0"/>
              <a:t>Results and Findings</a:t>
            </a:r>
          </a:p>
          <a:p>
            <a:pPr lvl="1"/>
            <a:r>
              <a:rPr lang="en-US" dirty="0"/>
              <a:t>Confusion Matrix Interpretation</a:t>
            </a:r>
          </a:p>
          <a:p>
            <a:r>
              <a:rPr lang="en-US" dirty="0"/>
              <a:t>Conclusions</a:t>
            </a:r>
          </a:p>
          <a:p>
            <a:r>
              <a:rPr lang="en-US" dirty="0"/>
              <a:t>References</a:t>
            </a:r>
          </a:p>
        </p:txBody>
      </p:sp>
      <p:pic>
        <p:nvPicPr>
          <p:cNvPr id="7" name="Contents">
            <a:hlinkClick r:id="" action="ppaction://media"/>
            <a:extLst>
              <a:ext uri="{FF2B5EF4-FFF2-40B4-BE49-F238E27FC236}">
                <a16:creationId xmlns:a16="http://schemas.microsoft.com/office/drawing/2014/main" id="{70AEB60D-97CD-62C4-FBC6-DCBE2F73F959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305" end="661.009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78531" y="2162937"/>
            <a:ext cx="609600" cy="6096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4474A7A-D48D-2B96-5BC5-108A5A27737B}"/>
              </a:ext>
            </a:extLst>
          </p:cNvPr>
          <p:cNvSpPr/>
          <p:nvPr/>
        </p:nvSpPr>
        <p:spPr>
          <a:xfrm>
            <a:off x="8113331" y="1669991"/>
            <a:ext cx="1930400" cy="1204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7666">
        <p:fade/>
      </p:transition>
    </mc:Choice>
    <mc:Fallback xmlns="">
      <p:transition spd="med" advTm="2766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66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C361-AF66-C6CE-0003-216E131CF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10BDF-E541-19A2-E729-85FD9E46D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Early withdrawal affects student outcomes and institutional effectiveness</a:t>
            </a:r>
          </a:p>
          <a:p>
            <a:r>
              <a:rPr lang="en-US" sz="2400" dirty="0"/>
              <a:t>Student retention remains a critical issue for universities (Tinto, 2012)</a:t>
            </a:r>
          </a:p>
          <a:p>
            <a:r>
              <a:rPr lang="en-US" sz="2400" dirty="0"/>
              <a:t>Research shows these characteristics are associated with persistence and completion:</a:t>
            </a:r>
          </a:p>
          <a:p>
            <a:pPr lvl="1"/>
            <a:r>
              <a:rPr lang="en-US" sz="2000" dirty="0"/>
              <a:t>Demographic background</a:t>
            </a:r>
          </a:p>
          <a:p>
            <a:pPr lvl="1"/>
            <a:r>
              <a:rPr lang="en-US" sz="2000" dirty="0"/>
              <a:t>Academic preparation</a:t>
            </a:r>
          </a:p>
          <a:p>
            <a:pPr lvl="1"/>
            <a:r>
              <a:rPr lang="en-US" sz="2000" dirty="0"/>
              <a:t>Enrollment characteristics (Denley, 2019)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203824-9A6E-F827-F86D-3F9CF1B67CC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89641" y="3494181"/>
            <a:ext cx="4295941" cy="2678019"/>
          </a:xfrm>
          <a:prstGeom prst="rect">
            <a:avLst/>
          </a:prstGeom>
        </p:spPr>
      </p:pic>
      <p:pic>
        <p:nvPicPr>
          <p:cNvPr id="9" name="Introduction">
            <a:hlinkClick r:id="" action="ppaction://media"/>
            <a:extLst>
              <a:ext uri="{FF2B5EF4-FFF2-40B4-BE49-F238E27FC236}">
                <a16:creationId xmlns:a16="http://schemas.microsoft.com/office/drawing/2014/main" id="{1489A7C2-B5CB-8832-4C33-513ACDE771F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09354" y="5243852"/>
            <a:ext cx="609600" cy="6096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11036FE-C040-591E-8B67-76294ED1C316}"/>
              </a:ext>
            </a:extLst>
          </p:cNvPr>
          <p:cNvSpPr/>
          <p:nvPr/>
        </p:nvSpPr>
        <p:spPr>
          <a:xfrm>
            <a:off x="1658698" y="4967514"/>
            <a:ext cx="1930400" cy="1204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681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4116">
        <p:fade/>
      </p:transition>
    </mc:Choice>
    <mc:Fallback xmlns="">
      <p:transition spd="med" advTm="4411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527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F2B4F-1E46-7FD9-918C-CB651AEFB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Data Used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0936E2A-E838-B36B-9BE3-3ABDDF582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8532883" cy="4572000"/>
          </a:xfrm>
        </p:spPr>
        <p:txBody>
          <a:bodyPr>
            <a:normAutofit/>
          </a:bodyPr>
          <a:lstStyle/>
          <a:p>
            <a:r>
              <a:rPr lang="en-US" sz="2400" dirty="0"/>
              <a:t>Project examines </a:t>
            </a:r>
          </a:p>
          <a:p>
            <a:pPr lvl="1"/>
            <a:r>
              <a:rPr lang="en-US" sz="2000" dirty="0"/>
              <a:t>Student dropout factors</a:t>
            </a:r>
          </a:p>
          <a:p>
            <a:pPr lvl="1"/>
            <a:r>
              <a:rPr lang="en-US" sz="2000" dirty="0"/>
              <a:t>Develops predictive models</a:t>
            </a:r>
          </a:p>
          <a:p>
            <a:pPr lvl="1"/>
            <a:r>
              <a:rPr lang="en-US" sz="2000" dirty="0"/>
              <a:t>Estimates likelihood that a student will withdraw</a:t>
            </a:r>
          </a:p>
          <a:p>
            <a:r>
              <a:rPr lang="en-US" sz="2400" dirty="0"/>
              <a:t>Uses StudentInfo.csv dataset from The Open University Learning Analytics Dataset (OULAD), which includes these data features:</a:t>
            </a:r>
          </a:p>
          <a:p>
            <a:pPr lvl="1"/>
            <a:r>
              <a:rPr lang="en-US" sz="2000" dirty="0"/>
              <a:t>Demographic</a:t>
            </a:r>
          </a:p>
          <a:p>
            <a:pPr lvl="1"/>
            <a:r>
              <a:rPr lang="en-US" sz="2000" dirty="0"/>
              <a:t>Enrollment</a:t>
            </a:r>
          </a:p>
          <a:p>
            <a:pPr lvl="1"/>
            <a:r>
              <a:rPr lang="en-US" sz="2000" dirty="0"/>
              <a:t>Academic outcome (</a:t>
            </a:r>
            <a:r>
              <a:rPr lang="en-US" sz="2000" dirty="0" err="1"/>
              <a:t>Kuzilek</a:t>
            </a:r>
            <a:r>
              <a:rPr lang="en-US" sz="2000" dirty="0"/>
              <a:t>, 2017)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03472F-0452-6737-EC03-59950EFACDF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07154" y="3617689"/>
            <a:ext cx="1447799" cy="1447799"/>
          </a:xfrm>
          <a:prstGeom prst="rect">
            <a:avLst/>
          </a:prstGeom>
        </p:spPr>
      </p:pic>
      <p:pic>
        <p:nvPicPr>
          <p:cNvPr id="3" name="Overview of data used">
            <a:hlinkClick r:id="" action="ppaction://media"/>
            <a:extLst>
              <a:ext uri="{FF2B5EF4-FFF2-40B4-BE49-F238E27FC236}">
                <a16:creationId xmlns:a16="http://schemas.microsoft.com/office/drawing/2014/main" id="{523179D4-2669-F1A8-814C-9248B5630E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926253" y="1901377"/>
            <a:ext cx="609600" cy="6096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461EF5B-9CC1-537C-BB91-D0F8ED42030F}"/>
              </a:ext>
            </a:extLst>
          </p:cNvPr>
          <p:cNvSpPr/>
          <p:nvPr/>
        </p:nvSpPr>
        <p:spPr>
          <a:xfrm>
            <a:off x="9104216" y="1700669"/>
            <a:ext cx="1930400" cy="1204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467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2007">
        <p:fade/>
      </p:transition>
    </mc:Choice>
    <mc:Fallback xmlns="">
      <p:transition spd="med" advTm="4200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00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FFFE63-6BBE-66EC-D505-76769B8B5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600200"/>
            <a:ext cx="7981043" cy="4572000"/>
          </a:xfrm>
        </p:spPr>
        <p:txBody>
          <a:bodyPr/>
          <a:lstStyle/>
          <a:p>
            <a:r>
              <a:rPr lang="en-US" dirty="0"/>
              <a:t>Exploratory Data Analysis (EDA)</a:t>
            </a:r>
          </a:p>
          <a:p>
            <a:pPr lvl="1"/>
            <a:r>
              <a:rPr lang="en-US" dirty="0"/>
              <a:t>Evaluate Data Quality</a:t>
            </a:r>
          </a:p>
          <a:p>
            <a:pPr lvl="1"/>
            <a:r>
              <a:rPr lang="en-US" dirty="0"/>
              <a:t>Review Class Balance</a:t>
            </a:r>
          </a:p>
          <a:p>
            <a:pPr lvl="1"/>
            <a:r>
              <a:rPr lang="en-US" dirty="0"/>
              <a:t>Identify Early Patterns – Predictors and Dropout Status (Han, 2012)</a:t>
            </a:r>
          </a:p>
          <a:p>
            <a:r>
              <a:rPr lang="en-US" dirty="0"/>
              <a:t>EDA found a Class Imbalance existed with non-withdrawal outcomes occurring more frequently than withdrawals</a:t>
            </a:r>
          </a:p>
          <a:p>
            <a:pPr lvl="1"/>
            <a:r>
              <a:rPr lang="en-US" dirty="0"/>
              <a:t>Supports need to emphasize recall during model evaluation – failing to identify at-risk students carries practical consequences (James, 2021)</a:t>
            </a:r>
          </a:p>
          <a:p>
            <a:r>
              <a:rPr lang="en-US" dirty="0"/>
              <a:t>Comparisons across demographic groups suggest these topics affect withdrawal rates</a:t>
            </a:r>
          </a:p>
          <a:p>
            <a:pPr lvl="1"/>
            <a:r>
              <a:rPr lang="en-US" dirty="0"/>
              <a:t>Age range of the student</a:t>
            </a:r>
          </a:p>
          <a:p>
            <a:pPr lvl="1"/>
            <a:r>
              <a:rPr lang="en-US" dirty="0"/>
              <a:t>Their highest education level</a:t>
            </a:r>
          </a:p>
          <a:p>
            <a:pPr lvl="1"/>
            <a:r>
              <a:rPr lang="en-US" dirty="0"/>
              <a:t>Disability status</a:t>
            </a:r>
          </a:p>
          <a:p>
            <a:pPr lvl="1"/>
            <a:r>
              <a:rPr lang="en-US" dirty="0"/>
              <a:t>Enrollment intensity (percentage of full-time coursework) (Tinto, 2012)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159D42-16B1-D515-D023-CBA00F8981F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biLevel thresh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61715" y="1405939"/>
            <a:ext cx="1885176" cy="1885176"/>
          </a:xfrm>
          <a:prstGeom prst="rect">
            <a:avLst/>
          </a:prstGeom>
        </p:spPr>
      </p:pic>
      <p:pic>
        <p:nvPicPr>
          <p:cNvPr id="3" name="Methods of Analysis">
            <a:hlinkClick r:id="" action="ppaction://media"/>
            <a:extLst>
              <a:ext uri="{FF2B5EF4-FFF2-40B4-BE49-F238E27FC236}">
                <a16:creationId xmlns:a16="http://schemas.microsoft.com/office/drawing/2014/main" id="{022970F5-1EA8-D221-E641-634F4AD58F3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475982" y="4577353"/>
            <a:ext cx="609600" cy="6096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48F9611-8EDC-F1A3-4E79-FE75814FDDCB}"/>
              </a:ext>
            </a:extLst>
          </p:cNvPr>
          <p:cNvSpPr/>
          <p:nvPr/>
        </p:nvSpPr>
        <p:spPr>
          <a:xfrm>
            <a:off x="9815582" y="3982267"/>
            <a:ext cx="1930400" cy="1204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27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4966">
        <p:fade/>
      </p:transition>
    </mc:Choice>
    <mc:Fallback xmlns="">
      <p:transition spd="med" advTm="4496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96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Exploratory 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900" y="1600200"/>
            <a:ext cx="4991100" cy="4572000"/>
          </a:xfrm>
        </p:spPr>
        <p:txBody>
          <a:bodyPr/>
          <a:lstStyle/>
          <a:p>
            <a:r>
              <a:rPr dirty="0"/>
              <a:t>Visualization: Distribution of Withdrawn vs Non‑Withdrawn Students</a:t>
            </a:r>
          </a:p>
          <a:p>
            <a:r>
              <a:rPr dirty="0"/>
              <a:t>Purpose: Show class imbalance in the dataset</a:t>
            </a:r>
          </a:p>
          <a:p>
            <a:r>
              <a:rPr dirty="0"/>
              <a:t>Insight: Most students did not withdraw, which requires careful model evaluation</a:t>
            </a:r>
          </a:p>
          <a:p>
            <a:r>
              <a:rPr lang="en-US" dirty="0"/>
              <a:t>Included</a:t>
            </a:r>
            <a:r>
              <a:rPr dirty="0"/>
              <a:t> chart: Bar chart of withdrawal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4FEB83-6117-2CBC-5D30-137844DC179A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20759" y="1600200"/>
            <a:ext cx="5466442" cy="4256314"/>
          </a:xfrm>
          <a:prstGeom prst="rect">
            <a:avLst/>
          </a:prstGeom>
        </p:spPr>
      </p:pic>
      <p:pic>
        <p:nvPicPr>
          <p:cNvPr id="6" name="Exploratory Data Visual">
            <a:hlinkClick r:id="" action="ppaction://media"/>
            <a:extLst>
              <a:ext uri="{FF2B5EF4-FFF2-40B4-BE49-F238E27FC236}">
                <a16:creationId xmlns:a16="http://schemas.microsoft.com/office/drawing/2014/main" id="{9A902376-2055-5D2B-9859-F81F58E2AE2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392952" y="5246914"/>
            <a:ext cx="609600" cy="6096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E95FBA9-A9C9-9496-810B-88BB4E62194A}"/>
              </a:ext>
            </a:extLst>
          </p:cNvPr>
          <p:cNvSpPr/>
          <p:nvPr/>
        </p:nvSpPr>
        <p:spPr>
          <a:xfrm>
            <a:off x="4037352" y="4655457"/>
            <a:ext cx="1930400" cy="1204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8097">
        <p:fade/>
      </p:transition>
    </mc:Choice>
    <mc:Fallback xmlns="">
      <p:transition spd="med" advTm="280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44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Withdrawal Rate by Age Band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900" y="1600200"/>
            <a:ext cx="4991100" cy="4572000"/>
          </a:xfrm>
        </p:spPr>
        <p:txBody>
          <a:bodyPr/>
          <a:lstStyle/>
          <a:p>
            <a:r>
              <a:rPr dirty="0"/>
              <a:t>Visualization: Withdrawal rate across student age groups</a:t>
            </a:r>
          </a:p>
          <a:p>
            <a:r>
              <a:rPr dirty="0"/>
              <a:t>Purpose: Identify demographic patterns in student persistence</a:t>
            </a:r>
          </a:p>
          <a:p>
            <a:r>
              <a:rPr dirty="0"/>
              <a:t>Insight: Age differences may influence withdrawal likelihood</a:t>
            </a:r>
          </a:p>
          <a:p>
            <a:r>
              <a:rPr lang="en-US" dirty="0"/>
              <a:t>Included</a:t>
            </a:r>
            <a:r>
              <a:rPr dirty="0"/>
              <a:t> chart: Stacked bar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6EBB32-40C6-B45F-127E-C34F7DCA25B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77304" y="1600200"/>
            <a:ext cx="5918753" cy="4256314"/>
          </a:xfrm>
          <a:prstGeom prst="rect">
            <a:avLst/>
          </a:prstGeom>
        </p:spPr>
      </p:pic>
      <p:pic>
        <p:nvPicPr>
          <p:cNvPr id="4" name="Withdrawal Rate by Age ">
            <a:hlinkClick r:id="" action="ppaction://media"/>
            <a:extLst>
              <a:ext uri="{FF2B5EF4-FFF2-40B4-BE49-F238E27FC236}">
                <a16:creationId xmlns:a16="http://schemas.microsoft.com/office/drawing/2014/main" id="{62C776AC-F405-1012-DA83-F2A08B11DF5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600450" y="5246914"/>
            <a:ext cx="609600" cy="6096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7C094B0-1396-985B-292C-9A78367F1C1D}"/>
              </a:ext>
            </a:extLst>
          </p:cNvPr>
          <p:cNvSpPr/>
          <p:nvPr/>
        </p:nvSpPr>
        <p:spPr>
          <a:xfrm>
            <a:off x="2940050" y="4949371"/>
            <a:ext cx="1930400" cy="1204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2295">
        <p:fade/>
      </p:transition>
    </mc:Choice>
    <mc:Fallback xmlns="">
      <p:transition spd="med" advTm="3229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29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Withdrawal Rate by Education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900" y="1600200"/>
            <a:ext cx="4991100" cy="4572000"/>
          </a:xfrm>
        </p:spPr>
        <p:txBody>
          <a:bodyPr/>
          <a:lstStyle/>
          <a:p>
            <a:r>
              <a:rPr dirty="0"/>
              <a:t>Visualization: Withdrawal probability by highest education level</a:t>
            </a:r>
          </a:p>
          <a:p>
            <a:r>
              <a:rPr dirty="0"/>
              <a:t>Purpose: Understand the relationship between academic preparation and dropout risk</a:t>
            </a:r>
          </a:p>
          <a:p>
            <a:r>
              <a:rPr dirty="0"/>
              <a:t>Insight: Students with lower academic preparation may have higher withdrawal risk</a:t>
            </a:r>
          </a:p>
          <a:p>
            <a:r>
              <a:rPr lang="en-US" dirty="0"/>
              <a:t>Included</a:t>
            </a:r>
            <a:r>
              <a:rPr dirty="0"/>
              <a:t> chart: Bar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F910F4-68B8-A737-EBF2-1C5856B0D79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84919" y="1600200"/>
            <a:ext cx="5789366" cy="4278086"/>
          </a:xfrm>
          <a:prstGeom prst="rect">
            <a:avLst/>
          </a:prstGeom>
        </p:spPr>
      </p:pic>
      <p:pic>
        <p:nvPicPr>
          <p:cNvPr id="4" name="Withdrawal Rate by Edlvl">
            <a:hlinkClick r:id="" action="ppaction://media"/>
            <a:extLst>
              <a:ext uri="{FF2B5EF4-FFF2-40B4-BE49-F238E27FC236}">
                <a16:creationId xmlns:a16="http://schemas.microsoft.com/office/drawing/2014/main" id="{87B0F619-50A0-F5E0-3E96-3A0D9C16AE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967445" y="5636792"/>
            <a:ext cx="609600" cy="6096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30F7EB0-6F94-98C9-8818-E83AF91D39D3}"/>
              </a:ext>
            </a:extLst>
          </p:cNvPr>
          <p:cNvSpPr/>
          <p:nvPr/>
        </p:nvSpPr>
        <p:spPr>
          <a:xfrm>
            <a:off x="1670050" y="5339249"/>
            <a:ext cx="1930400" cy="1204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1334">
        <p:fade/>
      </p:transition>
    </mc:Choice>
    <mc:Fallback xmlns="">
      <p:transition spd="med" advTm="3133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3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Distribution of Studied Credits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900" y="1600200"/>
            <a:ext cx="4991100" cy="4572000"/>
          </a:xfrm>
        </p:spPr>
        <p:txBody>
          <a:bodyPr/>
          <a:lstStyle/>
          <a:p>
            <a:r>
              <a:rPr dirty="0"/>
              <a:t>Visualization: Distribution of studied credits by withdrawal status</a:t>
            </a:r>
          </a:p>
          <a:p>
            <a:r>
              <a:rPr dirty="0"/>
              <a:t>Purpose: Compare enrollment intensity across outcomes</a:t>
            </a:r>
          </a:p>
          <a:p>
            <a:r>
              <a:rPr dirty="0"/>
              <a:t>Insight: Students taking fewer credits may face higher dropout risk</a:t>
            </a:r>
          </a:p>
          <a:p>
            <a:r>
              <a:rPr lang="en-US" dirty="0"/>
              <a:t>Included</a:t>
            </a:r>
            <a:r>
              <a:rPr dirty="0"/>
              <a:t> chart: Boxplot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AD2E87-0AC4-8BFC-D55D-6DD40F6FCA5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70469" y="1533637"/>
            <a:ext cx="6021531" cy="4279333"/>
          </a:xfrm>
          <a:prstGeom prst="rect">
            <a:avLst/>
          </a:prstGeom>
        </p:spPr>
      </p:pic>
      <p:pic>
        <p:nvPicPr>
          <p:cNvPr id="8" name="Dist of Studied Credits">
            <a:hlinkClick r:id="" action="ppaction://media"/>
            <a:extLst>
              <a:ext uri="{FF2B5EF4-FFF2-40B4-BE49-F238E27FC236}">
                <a16:creationId xmlns:a16="http://schemas.microsoft.com/office/drawing/2014/main" id="{0C8C94DC-AD2D-7701-B4CE-147CE8ED950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295650" y="5203370"/>
            <a:ext cx="609600" cy="6096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7C25BBF-54C5-160A-41DE-50EF06B84BE5}"/>
              </a:ext>
            </a:extLst>
          </p:cNvPr>
          <p:cNvSpPr/>
          <p:nvPr/>
        </p:nvSpPr>
        <p:spPr>
          <a:xfrm>
            <a:off x="2635250" y="4655457"/>
            <a:ext cx="1930400" cy="1204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474">
        <p:fade/>
      </p:transition>
    </mc:Choice>
    <mc:Fallback xmlns="">
      <p:transition spd="med" advTm="647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58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 Performance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899" y="1600200"/>
            <a:ext cx="9980682" cy="4572000"/>
          </a:xfrm>
        </p:spPr>
        <p:txBody>
          <a:bodyPr/>
          <a:lstStyle/>
          <a:p>
            <a:r>
              <a:rPr dirty="0"/>
              <a:t>Logistic Regression – Strong recall performance</a:t>
            </a:r>
          </a:p>
          <a:p>
            <a:r>
              <a:rPr lang="en-US" dirty="0"/>
              <a:t>Random Forest – Highest accuracy but low recall</a:t>
            </a:r>
          </a:p>
          <a:p>
            <a:r>
              <a:rPr lang="en-US" dirty="0" err="1"/>
              <a:t>XGBoost</a:t>
            </a:r>
            <a:r>
              <a:rPr lang="en-US" dirty="0"/>
              <a:t> – Comparable performance to Logistic Regression</a:t>
            </a:r>
            <a:endParaRPr dirty="0"/>
          </a:p>
          <a:p>
            <a:r>
              <a:rPr dirty="0"/>
              <a:t>Key takeaway: Logistic Regression best identifies at‑risk students</a:t>
            </a:r>
          </a:p>
        </p:txBody>
      </p:sp>
      <p:pic>
        <p:nvPicPr>
          <p:cNvPr id="6" name="Model Perform Comp">
            <a:hlinkClick r:id="" action="ppaction://media"/>
            <a:extLst>
              <a:ext uri="{FF2B5EF4-FFF2-40B4-BE49-F238E27FC236}">
                <a16:creationId xmlns:a16="http://schemas.microsoft.com/office/drawing/2014/main" id="{1C2B2871-BB29-BF4B-279E-35B9821B01A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24430" y="4027170"/>
            <a:ext cx="609600" cy="609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6DDD36-03CB-05C4-76F1-B82679EC557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8937" t="63204" r="52281" b="21831"/>
          <a:stretch>
            <a:fillRect/>
          </a:stretch>
        </p:blipFill>
        <p:spPr>
          <a:xfrm>
            <a:off x="2772761" y="4331970"/>
            <a:ext cx="6646478" cy="184023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EA9EEDD-274C-735C-48F2-7F0416BE62B0}"/>
              </a:ext>
            </a:extLst>
          </p:cNvPr>
          <p:cNvSpPr/>
          <p:nvPr/>
        </p:nvSpPr>
        <p:spPr>
          <a:xfrm>
            <a:off x="272996" y="3849370"/>
            <a:ext cx="1930400" cy="1204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B18205-D7BF-0E84-DAED-5A8E34FB041A}"/>
              </a:ext>
            </a:extLst>
          </p:cNvPr>
          <p:cNvSpPr/>
          <p:nvPr/>
        </p:nvSpPr>
        <p:spPr>
          <a:xfrm>
            <a:off x="4992915" y="4331970"/>
            <a:ext cx="957943" cy="18402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60D32A-69E6-9A86-4690-E0C2A6E4E723}"/>
              </a:ext>
            </a:extLst>
          </p:cNvPr>
          <p:cNvSpPr/>
          <p:nvPr/>
        </p:nvSpPr>
        <p:spPr>
          <a:xfrm>
            <a:off x="6958319" y="4331970"/>
            <a:ext cx="718457" cy="18402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8049">
        <p:fade/>
      </p:transition>
    </mc:Choice>
    <mc:Fallback xmlns="">
      <p:transition spd="med" advTm="1804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98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Confusion Matrix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900" y="1600200"/>
            <a:ext cx="4991100" cy="4572000"/>
          </a:xfrm>
        </p:spPr>
        <p:txBody>
          <a:bodyPr/>
          <a:lstStyle/>
          <a:p>
            <a:r>
              <a:rPr dirty="0"/>
              <a:t>Shows model predictions vs actual outcomes</a:t>
            </a:r>
          </a:p>
          <a:p>
            <a:r>
              <a:rPr dirty="0"/>
              <a:t>True positives represent correctly identified at‑risk students</a:t>
            </a:r>
          </a:p>
          <a:p>
            <a:r>
              <a:rPr dirty="0"/>
              <a:t>False positives represent students flagged but not withdrawn</a:t>
            </a:r>
          </a:p>
          <a:p>
            <a:r>
              <a:rPr dirty="0"/>
              <a:t>False negatives represent missed at‑risk students</a:t>
            </a:r>
          </a:p>
        </p:txBody>
      </p:sp>
      <p:pic>
        <p:nvPicPr>
          <p:cNvPr id="7" name="Confusion Matrix">
            <a:hlinkClick r:id="" action="ppaction://media"/>
            <a:extLst>
              <a:ext uri="{FF2B5EF4-FFF2-40B4-BE49-F238E27FC236}">
                <a16:creationId xmlns:a16="http://schemas.microsoft.com/office/drawing/2014/main" id="{4F496D06-80F0-AF61-EB9C-2BCE4CA3EFE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295650" y="4953000"/>
            <a:ext cx="609600" cy="609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B643D8-52C7-A8B4-B060-6547958C40A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62061" y="1600200"/>
            <a:ext cx="5436454" cy="4572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5FD42C1-0F60-E8F3-035E-3663E808D739}"/>
              </a:ext>
            </a:extLst>
          </p:cNvPr>
          <p:cNvSpPr/>
          <p:nvPr/>
        </p:nvSpPr>
        <p:spPr>
          <a:xfrm>
            <a:off x="2940050" y="4655457"/>
            <a:ext cx="1930400" cy="1204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9897">
        <p:fade/>
      </p:transition>
    </mc:Choice>
    <mc:Fallback xmlns="">
      <p:transition spd="med" advTm="198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60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Course enrollment modules influenced withdrawal risk</a:t>
            </a:r>
          </a:p>
          <a:p>
            <a:r>
              <a:t>Academic preparation variables were strong predictors</a:t>
            </a:r>
          </a:p>
          <a:p>
            <a:r>
              <a:t>Disability status showed moderate predictive influence</a:t>
            </a:r>
          </a:p>
          <a:p>
            <a:r>
              <a:t>Socioeconomic indicators also affected persistence outcomes</a:t>
            </a:r>
          </a:p>
        </p:txBody>
      </p:sp>
      <p:pic>
        <p:nvPicPr>
          <p:cNvPr id="4" name="Feature Importance ">
            <a:hlinkClick r:id="" action="ppaction://media"/>
            <a:extLst>
              <a:ext uri="{FF2B5EF4-FFF2-40B4-BE49-F238E27FC236}">
                <a16:creationId xmlns:a16="http://schemas.microsoft.com/office/drawing/2014/main" id="{76121287-8181-FD60-ED5B-538AE679D5B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706842" y="4648200"/>
            <a:ext cx="609600" cy="609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8F58E48-528C-4D25-E73A-C0CCA278F2D2}"/>
              </a:ext>
            </a:extLst>
          </p:cNvPr>
          <p:cNvSpPr/>
          <p:nvPr/>
        </p:nvSpPr>
        <p:spPr>
          <a:xfrm>
            <a:off x="7198931" y="4648200"/>
            <a:ext cx="1930400" cy="1204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1245">
        <p:fade/>
      </p:transition>
    </mc:Choice>
    <mc:Fallback xmlns="">
      <p:transition spd="med" advTm="4124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24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93785-5373-D4C0-D586-A9832ED7C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BF443-2418-6A8B-DCF7-54A626C14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Predictive models may reflect historical inequalities present in data</a:t>
            </a:r>
          </a:p>
          <a:p>
            <a:r>
              <a:rPr lang="en-US" dirty="0"/>
              <a:t>Variables such as socioeconomic status or disability may correlate with withdrawal risk due to systemic factors</a:t>
            </a:r>
          </a:p>
          <a:p>
            <a:r>
              <a:rPr lang="en-US" dirty="0"/>
              <a:t>Model predictions should support student success interventions rather than punitive decisions</a:t>
            </a:r>
          </a:p>
          <a:p>
            <a:r>
              <a:rPr lang="en-US" dirty="0"/>
              <a:t>Human oversight and fairness monitoring are necessary for responsible implementation.</a:t>
            </a:r>
          </a:p>
        </p:txBody>
      </p:sp>
      <p:pic>
        <p:nvPicPr>
          <p:cNvPr id="5" name="Ethical Considerations">
            <a:hlinkClick r:id="" action="ppaction://media"/>
            <a:extLst>
              <a:ext uri="{FF2B5EF4-FFF2-40B4-BE49-F238E27FC236}">
                <a16:creationId xmlns:a16="http://schemas.microsoft.com/office/drawing/2014/main" id="{9B75183A-9394-5B16-5452-08244DD3445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697730" y="4942615"/>
            <a:ext cx="609600" cy="609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E09FD9-0B7D-2064-FA4E-FB7332AF37C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09759" y="4608344"/>
            <a:ext cx="1811383" cy="188774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308A081-FC39-5E6B-7435-481EF8B3615D}"/>
              </a:ext>
            </a:extLst>
          </p:cNvPr>
          <p:cNvSpPr/>
          <p:nvPr/>
        </p:nvSpPr>
        <p:spPr>
          <a:xfrm>
            <a:off x="4164841" y="4942615"/>
            <a:ext cx="1930400" cy="1204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585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7561">
        <p:fade/>
      </p:transition>
    </mc:Choice>
    <mc:Fallback xmlns="">
      <p:transition spd="med" advTm="1756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89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F1890-DD8F-0407-A00A-66BA9AD79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1EE15-7378-DE7A-1F3B-DEB75B263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679B1-DD23-BEF6-2671-FCD9CECCE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Results suggest that student withdrawal risk is influenced by </a:t>
            </a:r>
            <a:r>
              <a:rPr lang="en-US"/>
              <a:t>multiple related </a:t>
            </a:r>
            <a:r>
              <a:rPr lang="en-US" dirty="0"/>
              <a:t>factors (Chawla, 2002):</a:t>
            </a:r>
          </a:p>
          <a:p>
            <a:pPr lvl="1"/>
            <a:r>
              <a:rPr lang="en-US" dirty="0"/>
              <a:t>Course enrollment patterns</a:t>
            </a:r>
          </a:p>
          <a:p>
            <a:pPr lvl="1"/>
            <a:r>
              <a:rPr lang="en-US" dirty="0"/>
              <a:t>Prior academic preparation</a:t>
            </a:r>
          </a:p>
          <a:p>
            <a:pPr lvl="1"/>
            <a:r>
              <a:rPr lang="en-US" dirty="0"/>
              <a:t>Disability status</a:t>
            </a:r>
          </a:p>
          <a:p>
            <a:pPr lvl="1"/>
            <a:r>
              <a:rPr lang="en-US" dirty="0"/>
              <a:t>Socioeconomic context</a:t>
            </a:r>
          </a:p>
          <a:p>
            <a:r>
              <a:rPr lang="en-US" dirty="0"/>
              <a:t>Future improvements could include:</a:t>
            </a:r>
          </a:p>
          <a:p>
            <a:pPr lvl="1"/>
            <a:r>
              <a:rPr lang="en-US" dirty="0"/>
              <a:t>Additional feature engineering</a:t>
            </a:r>
          </a:p>
          <a:p>
            <a:pPr lvl="1"/>
            <a:r>
              <a:rPr lang="en-US" dirty="0"/>
              <a:t>Probability calibration</a:t>
            </a:r>
          </a:p>
          <a:p>
            <a:pPr lvl="1"/>
            <a:r>
              <a:rPr lang="en-US" dirty="0"/>
              <a:t>Cross-validation</a:t>
            </a:r>
          </a:p>
          <a:p>
            <a:pPr lvl="1"/>
            <a:r>
              <a:rPr lang="en-US" dirty="0"/>
              <a:t>Fairness monitoring</a:t>
            </a:r>
          </a:p>
          <a:p>
            <a:pPr lvl="1"/>
            <a:r>
              <a:rPr lang="en-US" dirty="0"/>
              <a:t>Incorporate behavioral engagement variables (including learning platform activity, assignment completion patterns)</a:t>
            </a:r>
          </a:p>
          <a:p>
            <a:endParaRPr dirty="0"/>
          </a:p>
        </p:txBody>
      </p:sp>
      <p:pic>
        <p:nvPicPr>
          <p:cNvPr id="4" name="Conclusions">
            <a:hlinkClick r:id="" action="ppaction://media"/>
            <a:extLst>
              <a:ext uri="{FF2B5EF4-FFF2-40B4-BE49-F238E27FC236}">
                <a16:creationId xmlns:a16="http://schemas.microsoft.com/office/drawing/2014/main" id="{9DA7F2B3-58B1-FFD8-200A-144CFF7E955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171182" y="5867400"/>
            <a:ext cx="609600" cy="609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83A1A84-6AF7-DBD9-0E44-A672F756018B}"/>
              </a:ext>
            </a:extLst>
          </p:cNvPr>
          <p:cNvSpPr/>
          <p:nvPr/>
        </p:nvSpPr>
        <p:spPr>
          <a:xfrm>
            <a:off x="9510782" y="5394552"/>
            <a:ext cx="1930400" cy="1204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853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3560">
        <p:fade/>
      </p:transition>
    </mc:Choice>
    <mc:Fallback xmlns="">
      <p:transition spd="med" advTm="5356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56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096D2-191A-D1C5-9155-22547E10C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7D746-8F94-65ED-BBC6-90B1E4F19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Chawla, N. V., Bowyer, K. W., Hall, L. O., &amp; </a:t>
            </a:r>
            <a:r>
              <a:rPr lang="en-US" dirty="0" err="1"/>
              <a:t>Kegelmeyer</a:t>
            </a:r>
            <a:r>
              <a:rPr lang="en-US" dirty="0"/>
              <a:t>, W. P. (2002). SMOTE: Synthetic minority over-sampling technique. </a:t>
            </a:r>
            <a:r>
              <a:rPr lang="en-US" i="1" dirty="0"/>
              <a:t>Journal of Artificial Intelligence Research, 16</a:t>
            </a:r>
            <a:r>
              <a:rPr lang="en-US" dirty="0"/>
              <a:t>, 321–357. </a:t>
            </a:r>
            <a:r>
              <a:rPr lang="en-US" dirty="0">
                <a:hlinkClick r:id="rId4"/>
              </a:rPr>
              <a:t>https://doi.org/10.1613/jair.953</a:t>
            </a:r>
            <a:endParaRPr lang="en-US" dirty="0"/>
          </a:p>
          <a:p>
            <a:r>
              <a:rPr lang="en-US" dirty="0"/>
              <a:t>Denley, T. (2019). How predictive analytics and choice architecture can improve student success. </a:t>
            </a:r>
            <a:r>
              <a:rPr lang="en-US" i="1" dirty="0"/>
              <a:t>EDUCAUSE Review, 54</a:t>
            </a:r>
            <a:r>
              <a:rPr lang="en-US" dirty="0"/>
              <a:t>(4), 10–25.</a:t>
            </a:r>
          </a:p>
          <a:p>
            <a:r>
              <a:rPr lang="en-US" dirty="0"/>
              <a:t>Han, J., Kamber, M., &amp; Pei, J. (2012). </a:t>
            </a:r>
            <a:r>
              <a:rPr lang="en-US" i="1" dirty="0"/>
              <a:t>Data mining: Concepts and techniques</a:t>
            </a:r>
            <a:r>
              <a:rPr lang="en-US" dirty="0"/>
              <a:t> (3rd ed.). Morgan Kaufmann.</a:t>
            </a:r>
          </a:p>
          <a:p>
            <a:r>
              <a:rPr lang="en-US" dirty="0"/>
              <a:t>James, G., Witten, D., Hastie, T., &amp; </a:t>
            </a:r>
            <a:r>
              <a:rPr lang="en-US" dirty="0" err="1"/>
              <a:t>Tibshirani</a:t>
            </a:r>
            <a:r>
              <a:rPr lang="en-US" dirty="0"/>
              <a:t>, R. (2021). </a:t>
            </a:r>
            <a:r>
              <a:rPr lang="en-US" i="1" dirty="0"/>
              <a:t>An introduction to statistical learning: With applications in R</a:t>
            </a:r>
            <a:r>
              <a:rPr lang="en-US" dirty="0"/>
              <a:t> (2nd ed.). Springer.</a:t>
            </a:r>
          </a:p>
          <a:p>
            <a:r>
              <a:rPr lang="en-US" dirty="0" err="1"/>
              <a:t>Kuzilek</a:t>
            </a:r>
            <a:r>
              <a:rPr lang="en-US" dirty="0"/>
              <a:t>, J., </a:t>
            </a:r>
            <a:r>
              <a:rPr lang="en-US" dirty="0" err="1"/>
              <a:t>Hlosta</a:t>
            </a:r>
            <a:r>
              <a:rPr lang="en-US" dirty="0"/>
              <a:t>, M., &amp; </a:t>
            </a:r>
            <a:r>
              <a:rPr lang="en-US" dirty="0" err="1"/>
              <a:t>Zdrahal</a:t>
            </a:r>
            <a:r>
              <a:rPr lang="en-US" dirty="0"/>
              <a:t>, Z. (2017). Open University Learning Analytics Dataset. </a:t>
            </a:r>
            <a:r>
              <a:rPr lang="en-US" i="1" dirty="0"/>
              <a:t>Scientific Data, 4</a:t>
            </a:r>
            <a:r>
              <a:rPr lang="en-US" dirty="0"/>
              <a:t>, Article 170171. </a:t>
            </a:r>
            <a:r>
              <a:rPr lang="en-US" dirty="0">
                <a:hlinkClick r:id="rId5"/>
              </a:rPr>
              <a:t>https://doi.org/10.1038/sdata.2017.171</a:t>
            </a:r>
            <a:endParaRPr lang="en-US" dirty="0"/>
          </a:p>
          <a:p>
            <a:r>
              <a:rPr lang="en-US" dirty="0"/>
              <a:t>Tinto, V. (2012). </a:t>
            </a:r>
            <a:r>
              <a:rPr lang="en-US" i="1" dirty="0"/>
              <a:t>Completing college: Rethinking institutional action</a:t>
            </a:r>
            <a:r>
              <a:rPr lang="en-US" dirty="0"/>
              <a:t>. University of Chicago Press.</a:t>
            </a:r>
          </a:p>
        </p:txBody>
      </p:sp>
      <p:pic>
        <p:nvPicPr>
          <p:cNvPr id="7" name="References">
            <a:hlinkClick r:id="" action="ppaction://media"/>
            <a:extLst>
              <a:ext uri="{FF2B5EF4-FFF2-40B4-BE49-F238E27FC236}">
                <a16:creationId xmlns:a16="http://schemas.microsoft.com/office/drawing/2014/main" id="{7476FC2D-9CF3-0CBA-85B5-A44D05544D3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780782" y="319881"/>
            <a:ext cx="609600" cy="6096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6DCE752-8AB3-A083-CBC9-CAD8E5F225C6}"/>
              </a:ext>
            </a:extLst>
          </p:cNvPr>
          <p:cNvSpPr/>
          <p:nvPr/>
        </p:nvSpPr>
        <p:spPr>
          <a:xfrm>
            <a:off x="10522856" y="138453"/>
            <a:ext cx="1527925" cy="9911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795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427">
        <p:fade/>
      </p:transition>
    </mc:Choice>
    <mc:Fallback xmlns="">
      <p:transition spd="med" advTm="542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9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CDDBB83-77C1-4099-A0AA-289882E745E2}">
  <ds:schemaRefs>
    <ds:schemaRef ds:uri="http://schemas.microsoft.com/office/2006/documentManagement/types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4873beb7-5857-4685-be1f-d57550cc96cc"/>
    <ds:schemaRef ds:uri="http://schemas.microsoft.com/office/2006/metadata/propertie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282</TotalTime>
  <Words>913</Words>
  <Application>Microsoft Office PowerPoint</Application>
  <PresentationFormat>Widescreen</PresentationFormat>
  <Paragraphs>115</Paragraphs>
  <Slides>15</Slides>
  <Notes>10</Notes>
  <HiddenSlides>0</HiddenSlides>
  <MMClips>15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Euphemia</vt:lpstr>
      <vt:lpstr>Plantagenet Cherokee</vt:lpstr>
      <vt:lpstr>Wingdings</vt:lpstr>
      <vt:lpstr>Academic Literature 16x9</vt:lpstr>
      <vt:lpstr>University dropout Prediction</vt:lpstr>
      <vt:lpstr>Contents</vt:lpstr>
      <vt:lpstr>Introduction</vt:lpstr>
      <vt:lpstr>Overview of Data Used</vt:lpstr>
      <vt:lpstr>Methods of Analysis</vt:lpstr>
      <vt:lpstr>Exploratory Data Visualization</vt:lpstr>
      <vt:lpstr>Withdrawal Rate by Age Band</vt:lpstr>
      <vt:lpstr>Withdrawal Rate by Education Level</vt:lpstr>
      <vt:lpstr>Distribution of Studied Credits</vt:lpstr>
      <vt:lpstr>Model Performance Comparison</vt:lpstr>
      <vt:lpstr>Confusion Matrix Interpretation</vt:lpstr>
      <vt:lpstr>Feature Importance Insights</vt:lpstr>
      <vt:lpstr>Ethical Considerations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Teresa Ferrill</dc:creator>
  <cp:lastModifiedBy>Teresa Ferrill</cp:lastModifiedBy>
  <cp:revision>29</cp:revision>
  <dcterms:created xsi:type="dcterms:W3CDTF">2026-03-04T00:31:35Z</dcterms:created>
  <dcterms:modified xsi:type="dcterms:W3CDTF">2026-09-12T21:20:59Z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